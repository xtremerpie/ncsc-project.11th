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3A2B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B3A2B"/>
                </a:solidFill>
                <a:latin typeface="Calibri"/>
              </a:rPr>
              <a:t>Illustrative E-Waste Composition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E-Waste Composition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3A548"/>
              </a:solidFill>
              <a:effectLst/>
            </c:spPr>
          </c:dPt>
          <c:dPt>
            <c:idx val="1"/>
            <c:bubble3D val="0"/>
            <c:spPr>
              <a:solidFill>
                <a:srgbClr val="4C9A79"/>
              </a:solidFill>
              <a:effectLst/>
            </c:spPr>
          </c:dPt>
          <c:dPt>
            <c:idx val="2"/>
            <c:bubble3D val="0"/>
            <c:spPr>
              <a:solidFill>
                <a:srgbClr val="8FBFA6"/>
              </a:solidFill>
              <a:effectLst/>
            </c:spPr>
          </c:dPt>
          <c:dPt>
            <c:idx val="3"/>
            <c:bubble3D val="0"/>
            <c:spPr>
              <a:solidFill>
                <a:srgbClr val="2C5F2D"/>
              </a:solidFill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Old Chargers</c:v>
                </c:pt>
                <c:pt idx="1">
                  <c:v>Dead Batteries</c:v>
                </c:pt>
                <c:pt idx="2">
                  <c:v>Broken Earphones</c:v>
                </c:pt>
                <c:pt idx="3">
                  <c:v>Other Items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40</c:v>
                </c:pt>
                <c:pt idx="1">
                  <c:v>25</c:v>
                </c:pt>
                <c:pt idx="2">
                  <c:v>18</c:v>
                </c:pt>
                <c:pt idx="3">
                  <c:v>17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B3A2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3A2B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B3A2B"/>
                </a:solidFill>
                <a:latin typeface="Calibri"/>
              </a:rPr>
              <a:t>Illustrative Target: E-Waste Collected (kg)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E-Waste Collected (kg)</c:v>
                </c:pt>
              </c:strCache>
            </c:strRef>
          </c:tx>
          <c:spPr>
            <a:solidFill>
              <a:srgbClr val="4C9A7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3A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Before Campaign</c:v>
                  </c:pt>
                  <c:pt idx="1">
                    <c:v>After EcoSense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</c:v>
                </c:pt>
                <c:pt idx="1">
                  <c:v>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3A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3A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9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3A2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.xml"/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828800"/>
            <a:ext cx="5943600" cy="5943600"/>
          </a:xfrm>
          <a:prstGeom prst="ellipse">
            <a:avLst/>
          </a:prstGeom>
          <a:solidFill>
            <a:srgbClr val="234A38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657600"/>
            <a:ext cx="3840480" cy="3840480"/>
          </a:xfrm>
          <a:prstGeom prst="ellipse">
            <a:avLst/>
          </a:prstGeom>
          <a:solidFill>
            <a:srgbClr val="1F4234"/>
          </a:solidFill>
          <a:ln/>
        </p:spPr>
      </p:sp>
      <p:pic>
        <p:nvPicPr>
          <p:cNvPr id="4" name="Image 0" descr="icons_recycle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65836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3A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NCSC RESEARCH PROJECT  ·  2026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237744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EcoSense AI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640080" y="352044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E-Waste Intelligence &amp; Circular Economy System for Schools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640080" y="4526280"/>
            <a:ext cx="2011680" cy="0"/>
          </a:xfrm>
          <a:prstGeom prst="line">
            <a:avLst/>
          </a:prstGeom>
          <a:noFill/>
          <a:ln w="38100">
            <a:solidFill>
              <a:srgbClr val="E3A54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47548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AEC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research-first approach to reducing school e-waste through survey-based evidence, an AI-assisted recognition system, and a measured awareness campaign.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C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C9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E-waste is piling up faster than schools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1B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responsibly manage it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5577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 and nearby communities generate a steady stream of electronic waste — batteries, chargers, keyboards, mobile phones, cables, and accessories. Most students, families, and staff are unaware of proper disposal methods, which pollutes the environment and wastes recoverable material.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5074920"/>
            <a:ext cx="5577840" cy="1051560"/>
          </a:xfrm>
          <a:prstGeom prst="roundRect">
            <a:avLst>
              <a:gd name="adj" fmla="val 6957"/>
            </a:avLst>
          </a:prstGeom>
          <a:solidFill>
            <a:srgbClr val="F2F5F0"/>
          </a:solidFill>
          <a:ln/>
        </p:spPr>
      </p:sp>
      <p:pic>
        <p:nvPicPr>
          <p:cNvPr id="6" name="Image 0" descr="icons_exclam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285232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5138928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intervention, recoverable metals and materials end up in landfills instead of the circular economy.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537960" y="1783080"/>
            <a:ext cx="566928" cy="566928"/>
          </a:xfrm>
          <a:prstGeom prst="ellipse">
            <a:avLst/>
          </a:prstGeom>
          <a:solidFill>
            <a:srgbClr val="F2F5F0"/>
          </a:solidFill>
          <a:ln/>
        </p:spPr>
      </p:sp>
      <p:pic>
        <p:nvPicPr>
          <p:cNvPr id="9" name="Image 1" descr="icons_batteryhal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1901952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315200" y="175564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Improper Disposal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7315200" y="207568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Batteries and chargers thrown in regular waste bins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537960" y="2953512"/>
            <a:ext cx="566928" cy="566928"/>
          </a:xfrm>
          <a:prstGeom prst="ellipse">
            <a:avLst/>
          </a:prstGeom>
          <a:solidFill>
            <a:srgbClr val="F2F5F0"/>
          </a:solidFill>
          <a:ln/>
        </p:spPr>
      </p:sp>
      <p:pic>
        <p:nvPicPr>
          <p:cNvPr id="13" name="Image 2" descr="icons_lea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832" y="3072384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315200" y="29260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Pollution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7315200" y="32461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metals leach into soil and water systems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537960" y="4123944"/>
            <a:ext cx="566928" cy="566928"/>
          </a:xfrm>
          <a:prstGeom prst="ellipse">
            <a:avLst/>
          </a:prstGeom>
          <a:solidFill>
            <a:srgbClr val="F2F5F0"/>
          </a:solidFill>
          <a:ln/>
        </p:spPr>
      </p:sp>
      <p:pic>
        <p:nvPicPr>
          <p:cNvPr id="17" name="Image 3" descr="icons_recyc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2" y="4242816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315200" y="409651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Recyclable Value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7315200" y="441655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Copper, gold, and plastics never recovered or reused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537960" y="5294376"/>
            <a:ext cx="566928" cy="566928"/>
          </a:xfrm>
          <a:prstGeom prst="ellipse">
            <a:avLst/>
          </a:prstGeom>
          <a:solidFill>
            <a:srgbClr val="F2F5F0"/>
          </a:solidFill>
          <a:ln/>
        </p:spPr>
      </p:sp>
      <p:pic>
        <p:nvPicPr>
          <p:cNvPr id="21" name="Image 4" descr="icons_user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6832" y="5413248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315200" y="526694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Awareness</a:t>
            </a:r>
            <a:endParaRPr lang="en-US" sz="1450" dirty="0"/>
          </a:p>
        </p:txBody>
      </p:sp>
      <p:sp>
        <p:nvSpPr>
          <p:cNvPr id="23" name="Text 16"/>
          <p:cNvSpPr/>
          <p:nvPr/>
        </p:nvSpPr>
        <p:spPr>
          <a:xfrm>
            <a:off x="7315200" y="5586984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and families don't know where to recycle</a:t>
            </a:r>
            <a:endParaRPr lang="en-US" sz="1150" dirty="0"/>
          </a:p>
        </p:txBody>
      </p:sp>
      <p:sp>
        <p:nvSpPr>
          <p:cNvPr id="24" name="Text 1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C9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 THE RESEARCH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Question &amp; Hypothesis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03520" cy="4206240"/>
          </a:xfrm>
          <a:prstGeom prst="roundRect">
            <a:avLst>
              <a:gd name="adj" fmla="val 2174"/>
            </a:avLst>
          </a:prstGeom>
          <a:solidFill>
            <a:srgbClr val="F2F5F0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48840"/>
            <a:ext cx="640080" cy="640080"/>
          </a:xfrm>
          <a:prstGeom prst="ellipse">
            <a:avLst/>
          </a:prstGeom>
          <a:solidFill>
            <a:srgbClr val="1B3A2B"/>
          </a:solidFill>
          <a:ln/>
        </p:spPr>
      </p:sp>
      <p:pic>
        <p:nvPicPr>
          <p:cNvPr id="6" name="Image 0" descr="icons_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2860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21284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3017520"/>
            <a:ext cx="4663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700" i="1" dirty="0">
                <a:solidFill>
                  <a:srgbClr val="1B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“Can an AI-assisted e-waste management system improve e-waste identification, collection, and awareness in schools?”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309360" y="1828800"/>
            <a:ext cx="5303520" cy="4206240"/>
          </a:xfrm>
          <a:prstGeom prst="roundRect">
            <a:avLst>
              <a:gd name="adj" fmla="val 2174"/>
            </a:avLst>
          </a:prstGeom>
          <a:solidFill>
            <a:srgbClr val="1B3A2B"/>
          </a:solidFill>
          <a:ln/>
        </p:spPr>
      </p:sp>
      <p:sp>
        <p:nvSpPr>
          <p:cNvPr id="10" name="Shape 7"/>
          <p:cNvSpPr/>
          <p:nvPr/>
        </p:nvSpPr>
        <p:spPr>
          <a:xfrm>
            <a:off x="6629400" y="2148840"/>
            <a:ext cx="640080" cy="640080"/>
          </a:xfrm>
          <a:prstGeom prst="ellipse">
            <a:avLst/>
          </a:prstGeom>
          <a:solidFill>
            <a:srgbClr val="E3A548"/>
          </a:solidFill>
          <a:ln/>
        </p:spPr>
      </p:sp>
      <p:pic>
        <p:nvPicPr>
          <p:cNvPr id="11" name="Image 1" descr="icons_lightbul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28600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221284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629400" y="3017520"/>
            <a:ext cx="4663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700" i="1" dirty="0">
                <a:solidFill>
                  <a:srgbClr val="E7F1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students are provided with an AI-assisted system for identifying and recording e-waste, then proper disposal and recycling rates will increase.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C9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Objectives Guiding the Study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2F5F0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2130552"/>
            <a:ext cx="548640" cy="548640"/>
          </a:xfrm>
          <a:prstGeom prst="ellipse">
            <a:avLst/>
          </a:prstGeom>
          <a:solidFill>
            <a:srgbClr val="4C9A79"/>
          </a:solidFill>
          <a:ln/>
        </p:spPr>
      </p:sp>
      <p:pic>
        <p:nvPicPr>
          <p:cNvPr id="6" name="Image 0" descr="icons_scho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258568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383280" y="203911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7DB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04672" y="27889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e-waste generation in school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97680" y="187452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2F5F0"/>
          </a:solidFill>
          <a:ln/>
        </p:spPr>
      </p:sp>
      <p:sp>
        <p:nvSpPr>
          <p:cNvPr id="10" name="Shape 7"/>
          <p:cNvSpPr/>
          <p:nvPr/>
        </p:nvSpPr>
        <p:spPr>
          <a:xfrm>
            <a:off x="4553712" y="2130552"/>
            <a:ext cx="548640" cy="548640"/>
          </a:xfrm>
          <a:prstGeom prst="ellipse">
            <a:avLst/>
          </a:prstGeom>
          <a:solidFill>
            <a:srgbClr val="4C9A79"/>
          </a:solidFill>
          <a:ln/>
        </p:spPr>
      </p:sp>
      <p:pic>
        <p:nvPicPr>
          <p:cNvPr id="11" name="Image 1" descr="icons_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728" y="2258568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203911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7DB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4553712" y="27889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e-waste generation in nearby homes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046720" y="187452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2F5F0"/>
          </a:solidFill>
          <a:ln/>
        </p:spPr>
      </p:sp>
      <p:sp>
        <p:nvSpPr>
          <p:cNvPr id="15" name="Shape 11"/>
          <p:cNvSpPr/>
          <p:nvPr/>
        </p:nvSpPr>
        <p:spPr>
          <a:xfrm>
            <a:off x="8302752" y="2130552"/>
            <a:ext cx="548640" cy="548640"/>
          </a:xfrm>
          <a:prstGeom prst="ellipse">
            <a:avLst/>
          </a:prstGeom>
          <a:solidFill>
            <a:srgbClr val="4C9A79"/>
          </a:solidFill>
          <a:ln/>
        </p:spPr>
      </p:sp>
      <p:pic>
        <p:nvPicPr>
          <p:cNvPr id="16" name="Image 2" descr="icons_batteryhal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0768" y="2258568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881360" y="203911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7DB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8302752" y="27889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most common electronic waste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48640" y="402336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2F5F0"/>
          </a:solidFill>
          <a:ln/>
        </p:spPr>
      </p:sp>
      <p:sp>
        <p:nvSpPr>
          <p:cNvPr id="20" name="Shape 15"/>
          <p:cNvSpPr/>
          <p:nvPr/>
        </p:nvSpPr>
        <p:spPr>
          <a:xfrm>
            <a:off x="804672" y="4279392"/>
            <a:ext cx="548640" cy="548640"/>
          </a:xfrm>
          <a:prstGeom prst="ellipse">
            <a:avLst/>
          </a:prstGeom>
          <a:solidFill>
            <a:srgbClr val="4C9A79"/>
          </a:solidFill>
          <a:ln/>
        </p:spPr>
      </p:sp>
      <p:pic>
        <p:nvPicPr>
          <p:cNvPr id="21" name="Image 3" descr="icons_robo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4407408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3383280" y="418795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7DB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17"/>
          <p:cNvSpPr/>
          <p:nvPr/>
        </p:nvSpPr>
        <p:spPr>
          <a:xfrm>
            <a:off x="804672" y="49377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AI system to classify e-waste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4297680" y="402336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2F5F0"/>
          </a:solidFill>
          <a:ln/>
        </p:spPr>
      </p:sp>
      <p:sp>
        <p:nvSpPr>
          <p:cNvPr id="25" name="Shape 19"/>
          <p:cNvSpPr/>
          <p:nvPr/>
        </p:nvSpPr>
        <p:spPr>
          <a:xfrm>
            <a:off x="4553712" y="4279392"/>
            <a:ext cx="548640" cy="548640"/>
          </a:xfrm>
          <a:prstGeom prst="ellipse">
            <a:avLst/>
          </a:prstGeom>
          <a:solidFill>
            <a:srgbClr val="4C9A79"/>
          </a:solidFill>
          <a:ln/>
        </p:spPr>
      </p:sp>
      <p:pic>
        <p:nvPicPr>
          <p:cNvPr id="26" name="Image 4" descr="icons_databas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1728" y="4407408"/>
            <a:ext cx="292608" cy="2926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132320" y="418795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7DB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28" name="Text 21"/>
          <p:cNvSpPr/>
          <p:nvPr/>
        </p:nvSpPr>
        <p:spPr>
          <a:xfrm>
            <a:off x="4553712" y="49377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school e-waste database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8046720" y="402336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2F5F0"/>
          </a:solidFill>
          <a:ln/>
        </p:spPr>
      </p:sp>
      <p:sp>
        <p:nvSpPr>
          <p:cNvPr id="30" name="Shape 23"/>
          <p:cNvSpPr/>
          <p:nvPr/>
        </p:nvSpPr>
        <p:spPr>
          <a:xfrm>
            <a:off x="8302752" y="4279392"/>
            <a:ext cx="548640" cy="548640"/>
          </a:xfrm>
          <a:prstGeom prst="ellipse">
            <a:avLst/>
          </a:prstGeom>
          <a:solidFill>
            <a:srgbClr val="4C9A79"/>
          </a:solidFill>
          <a:ln/>
        </p:spPr>
      </p:sp>
      <p:pic>
        <p:nvPicPr>
          <p:cNvPr id="31" name="Image 5" descr="icons_lea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0768" y="4407408"/>
            <a:ext cx="292608" cy="29260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0881360" y="418795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7DB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33" name="Text 25"/>
          <p:cNvSpPr/>
          <p:nvPr/>
        </p:nvSpPr>
        <p:spPr>
          <a:xfrm>
            <a:off x="8302752" y="49377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awareness among students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3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3A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10-Phase Research Roadmap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BD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is built only after the research question, methodology, and data collection are in place.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975104" cy="1691640"/>
          </a:xfrm>
          <a:prstGeom prst="roundRect">
            <a:avLst>
              <a:gd name="adj" fmla="val 4865"/>
            </a:avLst>
          </a:prstGeom>
          <a:solidFill>
            <a:srgbClr val="234A38"/>
          </a:solidFill>
          <a:ln/>
        </p:spPr>
      </p:sp>
      <p:sp>
        <p:nvSpPr>
          <p:cNvPr id="6" name="Shape 4"/>
          <p:cNvSpPr/>
          <p:nvPr/>
        </p:nvSpPr>
        <p:spPr>
          <a:xfrm>
            <a:off x="1280160" y="2148840"/>
            <a:ext cx="512064" cy="512064"/>
          </a:xfrm>
          <a:prstGeom prst="ellipse">
            <a:avLst/>
          </a:prstGeom>
          <a:solidFill>
            <a:srgbClr val="E3A548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21488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1792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660904" y="1965960"/>
            <a:ext cx="1975104" cy="1691640"/>
          </a:xfrm>
          <a:prstGeom prst="roundRect">
            <a:avLst>
              <a:gd name="adj" fmla="val 4865"/>
            </a:avLst>
          </a:prstGeom>
          <a:solidFill>
            <a:srgbClr val="234A38"/>
          </a:solidFill>
          <a:ln/>
        </p:spPr>
      </p:sp>
      <p:sp>
        <p:nvSpPr>
          <p:cNvPr id="10" name="Shape 8"/>
          <p:cNvSpPr/>
          <p:nvPr/>
        </p:nvSpPr>
        <p:spPr>
          <a:xfrm>
            <a:off x="3392424" y="2148840"/>
            <a:ext cx="512064" cy="512064"/>
          </a:xfrm>
          <a:prstGeom prst="ellipse">
            <a:avLst/>
          </a:prstGeom>
          <a:solidFill>
            <a:srgbClr val="E3A548"/>
          </a:solidFill>
          <a:ln/>
        </p:spPr>
      </p:sp>
      <p:sp>
        <p:nvSpPr>
          <p:cNvPr id="11" name="Text 9"/>
          <p:cNvSpPr/>
          <p:nvPr/>
        </p:nvSpPr>
        <p:spPr>
          <a:xfrm>
            <a:off x="3392424" y="21488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752344" y="2834640"/>
            <a:ext cx="1792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About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E-Waste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73168" y="1965960"/>
            <a:ext cx="1975104" cy="1691640"/>
          </a:xfrm>
          <a:prstGeom prst="roundRect">
            <a:avLst>
              <a:gd name="adj" fmla="val 4865"/>
            </a:avLst>
          </a:prstGeom>
          <a:solidFill>
            <a:srgbClr val="234A38"/>
          </a:solidFill>
          <a:ln/>
        </p:spPr>
      </p:sp>
      <p:sp>
        <p:nvSpPr>
          <p:cNvPr id="14" name="Shape 12"/>
          <p:cNvSpPr/>
          <p:nvPr/>
        </p:nvSpPr>
        <p:spPr>
          <a:xfrm>
            <a:off x="5504688" y="2148840"/>
            <a:ext cx="512064" cy="512064"/>
          </a:xfrm>
          <a:prstGeom prst="ellipse">
            <a:avLst/>
          </a:prstGeom>
          <a:solidFill>
            <a:srgbClr val="E3A548"/>
          </a:solidFill>
          <a:ln/>
        </p:spPr>
      </p:sp>
      <p:sp>
        <p:nvSpPr>
          <p:cNvPr id="15" name="Text 13"/>
          <p:cNvSpPr/>
          <p:nvPr/>
        </p:nvSpPr>
        <p:spPr>
          <a:xfrm>
            <a:off x="5504688" y="21488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864608" y="2834640"/>
            <a:ext cx="1792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885432" y="1965960"/>
            <a:ext cx="1975104" cy="1691640"/>
          </a:xfrm>
          <a:prstGeom prst="roundRect">
            <a:avLst>
              <a:gd name="adj" fmla="val 4865"/>
            </a:avLst>
          </a:prstGeom>
          <a:solidFill>
            <a:srgbClr val="234A38"/>
          </a:solidFill>
          <a:ln/>
        </p:spPr>
      </p:sp>
      <p:sp>
        <p:nvSpPr>
          <p:cNvPr id="18" name="Shape 16"/>
          <p:cNvSpPr/>
          <p:nvPr/>
        </p:nvSpPr>
        <p:spPr>
          <a:xfrm>
            <a:off x="7616952" y="2148840"/>
            <a:ext cx="512064" cy="512064"/>
          </a:xfrm>
          <a:prstGeom prst="ellipse">
            <a:avLst/>
          </a:prstGeom>
          <a:solidFill>
            <a:srgbClr val="E3A548"/>
          </a:solidFill>
          <a:ln/>
        </p:spPr>
      </p:sp>
      <p:sp>
        <p:nvSpPr>
          <p:cNvPr id="19" name="Text 17"/>
          <p:cNvSpPr/>
          <p:nvPr/>
        </p:nvSpPr>
        <p:spPr>
          <a:xfrm>
            <a:off x="7616952" y="21488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976872" y="2834640"/>
            <a:ext cx="1792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997696" y="1965960"/>
            <a:ext cx="1975104" cy="1691640"/>
          </a:xfrm>
          <a:prstGeom prst="roundRect">
            <a:avLst>
              <a:gd name="adj" fmla="val 4865"/>
            </a:avLst>
          </a:prstGeom>
          <a:solidFill>
            <a:srgbClr val="234A38"/>
          </a:solidFill>
          <a:ln/>
        </p:spPr>
      </p:sp>
      <p:sp>
        <p:nvSpPr>
          <p:cNvPr id="22" name="Shape 20"/>
          <p:cNvSpPr/>
          <p:nvPr/>
        </p:nvSpPr>
        <p:spPr>
          <a:xfrm>
            <a:off x="9729216" y="2148840"/>
            <a:ext cx="512064" cy="512064"/>
          </a:xfrm>
          <a:prstGeom prst="ellipse">
            <a:avLst/>
          </a:prstGeom>
          <a:solidFill>
            <a:srgbClr val="E3A548"/>
          </a:solidFill>
          <a:ln/>
        </p:spPr>
      </p:sp>
      <p:sp>
        <p:nvSpPr>
          <p:cNvPr id="23" name="Text 21"/>
          <p:cNvSpPr/>
          <p:nvPr/>
        </p:nvSpPr>
        <p:spPr>
          <a:xfrm>
            <a:off x="9729216" y="21488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089136" y="2834640"/>
            <a:ext cx="1792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3977640"/>
            <a:ext cx="1975104" cy="1691640"/>
          </a:xfrm>
          <a:prstGeom prst="roundRect">
            <a:avLst>
              <a:gd name="adj" fmla="val 4865"/>
            </a:avLst>
          </a:prstGeom>
          <a:solidFill>
            <a:srgbClr val="234A38"/>
          </a:solidFill>
          <a:ln/>
        </p:spPr>
      </p:sp>
      <p:sp>
        <p:nvSpPr>
          <p:cNvPr id="26" name="Shape 24"/>
          <p:cNvSpPr/>
          <p:nvPr/>
        </p:nvSpPr>
        <p:spPr>
          <a:xfrm>
            <a:off x="1280160" y="4160520"/>
            <a:ext cx="512064" cy="512064"/>
          </a:xfrm>
          <a:prstGeom prst="ellipse">
            <a:avLst/>
          </a:prstGeom>
          <a:solidFill>
            <a:srgbClr val="E3A548"/>
          </a:solidFill>
          <a:ln/>
        </p:spPr>
      </p:sp>
      <p:sp>
        <p:nvSpPr>
          <p:cNvPr id="27" name="Text 25"/>
          <p:cNvSpPr/>
          <p:nvPr/>
        </p:nvSpPr>
        <p:spPr>
          <a:xfrm>
            <a:off x="1280160" y="41605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40080" y="4846320"/>
            <a:ext cx="1792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660904" y="3977640"/>
            <a:ext cx="1975104" cy="1691640"/>
          </a:xfrm>
          <a:prstGeom prst="roundRect">
            <a:avLst>
              <a:gd name="adj" fmla="val 4865"/>
            </a:avLst>
          </a:prstGeom>
          <a:solidFill>
            <a:srgbClr val="234A38"/>
          </a:solidFill>
          <a:ln/>
        </p:spPr>
      </p:sp>
      <p:sp>
        <p:nvSpPr>
          <p:cNvPr id="30" name="Shape 28"/>
          <p:cNvSpPr/>
          <p:nvPr/>
        </p:nvSpPr>
        <p:spPr>
          <a:xfrm>
            <a:off x="3392424" y="4160520"/>
            <a:ext cx="512064" cy="512064"/>
          </a:xfrm>
          <a:prstGeom prst="ellipse">
            <a:avLst/>
          </a:prstGeom>
          <a:solidFill>
            <a:srgbClr val="E3A548"/>
          </a:solidFill>
          <a:ln/>
        </p:spPr>
      </p:sp>
      <p:sp>
        <p:nvSpPr>
          <p:cNvPr id="31" name="Text 29"/>
          <p:cNvSpPr/>
          <p:nvPr/>
        </p:nvSpPr>
        <p:spPr>
          <a:xfrm>
            <a:off x="3392424" y="41605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2752344" y="4846320"/>
            <a:ext cx="1792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773168" y="3977640"/>
            <a:ext cx="1975104" cy="1691640"/>
          </a:xfrm>
          <a:prstGeom prst="roundRect">
            <a:avLst>
              <a:gd name="adj" fmla="val 4865"/>
            </a:avLst>
          </a:prstGeom>
          <a:solidFill>
            <a:srgbClr val="234A38"/>
          </a:solidFill>
          <a:ln/>
        </p:spPr>
      </p:sp>
      <p:sp>
        <p:nvSpPr>
          <p:cNvPr id="34" name="Shape 32"/>
          <p:cNvSpPr/>
          <p:nvPr/>
        </p:nvSpPr>
        <p:spPr>
          <a:xfrm>
            <a:off x="5504688" y="4160520"/>
            <a:ext cx="512064" cy="512064"/>
          </a:xfrm>
          <a:prstGeom prst="ellipse">
            <a:avLst/>
          </a:prstGeom>
          <a:solidFill>
            <a:srgbClr val="E3A548"/>
          </a:solidFill>
          <a:ln/>
        </p:spPr>
      </p:sp>
      <p:sp>
        <p:nvSpPr>
          <p:cNvPr id="35" name="Text 33"/>
          <p:cNvSpPr/>
          <p:nvPr/>
        </p:nvSpPr>
        <p:spPr>
          <a:xfrm>
            <a:off x="5504688" y="41605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4864608" y="4846320"/>
            <a:ext cx="1792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(Optional)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885432" y="3977640"/>
            <a:ext cx="1975104" cy="1691640"/>
          </a:xfrm>
          <a:prstGeom prst="roundRect">
            <a:avLst>
              <a:gd name="adj" fmla="val 4865"/>
            </a:avLst>
          </a:prstGeom>
          <a:solidFill>
            <a:srgbClr val="234A38"/>
          </a:solidFill>
          <a:ln/>
        </p:spPr>
      </p:sp>
      <p:sp>
        <p:nvSpPr>
          <p:cNvPr id="38" name="Shape 36"/>
          <p:cNvSpPr/>
          <p:nvPr/>
        </p:nvSpPr>
        <p:spPr>
          <a:xfrm>
            <a:off x="7616952" y="4160520"/>
            <a:ext cx="512064" cy="512064"/>
          </a:xfrm>
          <a:prstGeom prst="ellipse">
            <a:avLst/>
          </a:prstGeom>
          <a:solidFill>
            <a:srgbClr val="E3A548"/>
          </a:solidFill>
          <a:ln/>
        </p:spPr>
      </p:sp>
      <p:sp>
        <p:nvSpPr>
          <p:cNvPr id="39" name="Text 37"/>
          <p:cNvSpPr/>
          <p:nvPr/>
        </p:nvSpPr>
        <p:spPr>
          <a:xfrm>
            <a:off x="7616952" y="41605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6976872" y="4846320"/>
            <a:ext cx="1792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8997696" y="3977640"/>
            <a:ext cx="1975104" cy="1691640"/>
          </a:xfrm>
          <a:prstGeom prst="roundRect">
            <a:avLst>
              <a:gd name="adj" fmla="val 4865"/>
            </a:avLst>
          </a:prstGeom>
          <a:solidFill>
            <a:srgbClr val="234A38"/>
          </a:solidFill>
          <a:ln/>
        </p:spPr>
      </p:sp>
      <p:sp>
        <p:nvSpPr>
          <p:cNvPr id="42" name="Shape 40"/>
          <p:cNvSpPr/>
          <p:nvPr/>
        </p:nvSpPr>
        <p:spPr>
          <a:xfrm>
            <a:off x="9729216" y="4160520"/>
            <a:ext cx="512064" cy="512064"/>
          </a:xfrm>
          <a:prstGeom prst="ellipse">
            <a:avLst/>
          </a:prstGeom>
          <a:solidFill>
            <a:srgbClr val="E3A548"/>
          </a:solidFill>
          <a:ln/>
        </p:spPr>
      </p:sp>
      <p:sp>
        <p:nvSpPr>
          <p:cNvPr id="43" name="Text 41"/>
          <p:cNvSpPr/>
          <p:nvPr/>
        </p:nvSpPr>
        <p:spPr>
          <a:xfrm>
            <a:off x="9729216" y="41605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9089136" y="4846320"/>
            <a:ext cx="1792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C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C9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1–2 · WEEKS 1–2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E-Waste Before Building Anything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120640" cy="4206240"/>
          </a:xfrm>
          <a:prstGeom prst="roundRect">
            <a:avLst>
              <a:gd name="adj" fmla="val 2174"/>
            </a:avLst>
          </a:prstGeom>
          <a:solidFill>
            <a:srgbClr val="F2F5F0"/>
          </a:solidFill>
          <a:ln/>
        </p:spPr>
      </p:sp>
      <p:pic>
        <p:nvPicPr>
          <p:cNvPr id="5" name="Image 0" descr="icons_clip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10312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21488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Reading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68680" y="2788920"/>
            <a:ext cx="44805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e-waste, and why does it matter?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e-waste hazardous to health and environment?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recoverable metals and materials are inside it?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realistically be recycled?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e-waste problem and local recycling centers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government rules and guidelines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989320" y="1828800"/>
            <a:ext cx="5623560" cy="4206240"/>
          </a:xfrm>
          <a:prstGeom prst="roundRect">
            <a:avLst>
              <a:gd name="adj" fmla="val 2174"/>
            </a:avLst>
          </a:prstGeom>
          <a:solidFill>
            <a:srgbClr val="1B3A2B"/>
          </a:solidFill>
          <a:ln/>
        </p:spPr>
      </p:sp>
      <p:pic>
        <p:nvPicPr>
          <p:cNvPr id="9" name="Image 1" descr="icons_leaf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19456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32320" y="22402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Guiding Principle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355080" y="301752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50" i="1" dirty="0">
                <a:solidFill>
                  <a:srgbClr val="E7F1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 notes in your own words. Understanding the science of e-waste — not copying it — is what lets the team design a survey and an AI model that actually fit the local problem.</a:t>
            </a:r>
            <a:endParaRPr lang="en-US" sz="1550" dirty="0"/>
          </a:p>
        </p:txBody>
      </p:sp>
      <p:sp>
        <p:nvSpPr>
          <p:cNvPr id="12" name="Shape 8"/>
          <p:cNvSpPr/>
          <p:nvPr/>
        </p:nvSpPr>
        <p:spPr>
          <a:xfrm>
            <a:off x="6355080" y="5029200"/>
            <a:ext cx="4709160" cy="0"/>
          </a:xfrm>
          <a:prstGeom prst="line">
            <a:avLst/>
          </a:prstGeom>
          <a:noFill/>
          <a:ln w="12700">
            <a:solidFill>
              <a:srgbClr val="3E6752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355080" y="52120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BD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 short literature summary that frames the local research question.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C9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WEEKS 2–3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Local Survey — Where the Project Becomes Original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Locations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457200" cy="457200"/>
          </a:xfrm>
          <a:prstGeom prst="ellipse">
            <a:avLst/>
          </a:prstGeom>
          <a:solidFill>
            <a:srgbClr val="F2F5F0"/>
          </a:solidFill>
          <a:ln/>
        </p:spPr>
      </p:sp>
      <p:pic>
        <p:nvPicPr>
          <p:cNvPr id="6" name="Image 0" descr="icons_scho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243230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235915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school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953512"/>
            <a:ext cx="457200" cy="457200"/>
          </a:xfrm>
          <a:prstGeom prst="ellipse">
            <a:avLst/>
          </a:prstGeom>
          <a:solidFill>
            <a:srgbClr val="F2F5F0"/>
          </a:solidFill>
          <a:ln/>
        </p:spPr>
      </p:sp>
      <p:pic>
        <p:nvPicPr>
          <p:cNvPr id="9" name="Image 1" descr="icons_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3054096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8720" y="2980944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Nearby homes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548640" y="3575304"/>
            <a:ext cx="457200" cy="457200"/>
          </a:xfrm>
          <a:prstGeom prst="ellipse">
            <a:avLst/>
          </a:prstGeom>
          <a:solidFill>
            <a:srgbClr val="F2F5F0"/>
          </a:solidFill>
          <a:ln/>
        </p:spPr>
      </p:sp>
      <p:pic>
        <p:nvPicPr>
          <p:cNvPr id="12" name="Image 2" descr="icons_mobileal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3675888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88720" y="3602736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&amp; repair shops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548640" y="4197096"/>
            <a:ext cx="457200" cy="457200"/>
          </a:xfrm>
          <a:prstGeom prst="ellipse">
            <a:avLst/>
          </a:prstGeom>
          <a:solidFill>
            <a:srgbClr val="F2F5F0"/>
          </a:solidFill>
          <a:ln/>
        </p:spPr>
      </p:sp>
      <p:pic>
        <p:nvPicPr>
          <p:cNvPr id="15" name="Image 3" descr="icons_laptopcod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" y="4297680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88720" y="422452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centers</a:t>
            </a:r>
            <a:endParaRPr lang="en-US" sz="1350" dirty="0"/>
          </a:p>
        </p:txBody>
      </p:sp>
      <p:sp>
        <p:nvSpPr>
          <p:cNvPr id="17" name="Shape 11"/>
          <p:cNvSpPr/>
          <p:nvPr/>
        </p:nvSpPr>
        <p:spPr>
          <a:xfrm>
            <a:off x="548640" y="4983480"/>
            <a:ext cx="5029200" cy="1143000"/>
          </a:xfrm>
          <a:prstGeom prst="roundRect">
            <a:avLst>
              <a:gd name="adj" fmla="val 6400"/>
            </a:avLst>
          </a:prstGeom>
          <a:solidFill>
            <a:srgbClr val="E3A548"/>
          </a:solidFill>
          <a:ln/>
        </p:spPr>
      </p:sp>
      <p:sp>
        <p:nvSpPr>
          <p:cNvPr id="18" name="Text 12"/>
          <p:cNvSpPr/>
          <p:nvPr/>
        </p:nvSpPr>
        <p:spPr>
          <a:xfrm>
            <a:off x="777240" y="507492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100+</a:t>
            </a:r>
            <a:endParaRPr lang="en-US" sz="4000" dirty="0"/>
          </a:p>
        </p:txBody>
      </p:sp>
      <p:sp>
        <p:nvSpPr>
          <p:cNvPr id="19" name="Text 13"/>
          <p:cNvSpPr/>
          <p:nvPr/>
        </p:nvSpPr>
        <p:spPr>
          <a:xfrm>
            <a:off x="2286000" y="51206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survey responses via Google Form or paper survey, across all four locations.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5989320" y="1828800"/>
            <a:ext cx="5623560" cy="4297680"/>
          </a:xfrm>
          <a:prstGeom prst="roundRect">
            <a:avLst>
              <a:gd name="adj" fmla="val 2128"/>
            </a:avLst>
          </a:prstGeom>
          <a:solidFill>
            <a:srgbClr val="F2F5F0"/>
          </a:solidFill>
          <a:ln/>
        </p:spPr>
      </p:sp>
      <p:sp>
        <p:nvSpPr>
          <p:cNvPr id="21" name="Text 15"/>
          <p:cNvSpPr/>
          <p:nvPr/>
        </p:nvSpPr>
        <p:spPr>
          <a:xfrm>
            <a:off x="6309360" y="2057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Survey Questions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6309360" y="2514600"/>
            <a:ext cx="50292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old phones, chargers, or dead batteries do you have at home?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have a broken mouse, keyboard, monitor, laptop, or CPU?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 you currently throw away electronic items?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know of a local e-waste recycling center?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you donate old electronics to a school collection point?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C9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· BUILDING THE DATASET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Paper Surveys to a Structured Database</a:t>
            </a:r>
            <a:endParaRPr lang="en-US" sz="3200" dirty="0"/>
          </a:p>
        </p:txBody>
      </p:sp>
      <p:pic>
        <p:nvPicPr>
          <p:cNvPr id="4" name="Image 0" descr="icons_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19202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in a spreadsheet, then migrate to SQLite as records grow.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06040"/>
          <a:ext cx="11064240" cy="2377440"/>
        </p:xfrm>
        <a:graphic>
          <a:graphicData uri="http://schemas.openxmlformats.org/drawingml/2006/table">
            <a:tbl>
              <a:tblPr/>
              <a:tblGrid>
                <a:gridCol w="1844040"/>
                <a:gridCol w="1844040"/>
                <a:gridCol w="1844040"/>
                <a:gridCol w="1844040"/>
                <a:gridCol w="1844040"/>
                <a:gridCol w="1844040"/>
              </a:tblGrid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Working?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Recyclable?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 Type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2B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3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3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Charger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3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 kg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3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3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3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3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3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 Battery Pack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3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 kg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3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3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3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3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3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USB Keyboard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3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 kg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3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3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3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School Lab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3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3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Earphones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3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 kg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3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3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3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3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3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CRT Monitor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3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4.10 kg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3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3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3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School Lab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25780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2F5F0"/>
          </a:solidFill>
          <a:ln/>
        </p:spPr>
      </p:sp>
      <p:pic>
        <p:nvPicPr>
          <p:cNvPr id="8" name="Image 1" descr="icons_filea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468112"/>
            <a:ext cx="457200" cy="4572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371600" y="544068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sample rows shown above — actual data will come from the school's own survey and inventory count.</a:t>
            </a:r>
            <a:endParaRPr lang="en-US" sz="1150" dirty="0"/>
          </a:p>
        </p:txBody>
      </p:sp>
      <p:sp>
        <p:nvSpPr>
          <p:cNvPr id="10" name="Text 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C9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· TURNING DATA INTO INSIGHT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Survey Data Is Expected to Show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12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survey responses are collected, categorize every item and chart the results. This breakdown is illustrative — it shows the kind of pattern the analysis is designed to surface, to be replaced with real survey results.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3749040"/>
            <a:ext cx="5120640" cy="2148840"/>
          </a:xfrm>
          <a:prstGeom prst="roundRect">
            <a:avLst>
              <a:gd name="adj" fmla="val 4255"/>
            </a:avLst>
          </a:prstGeom>
          <a:solidFill>
            <a:srgbClr val="F2F5F0"/>
          </a:solidFill>
          <a:ln/>
        </p:spPr>
      </p:sp>
      <p:pic>
        <p:nvPicPr>
          <p:cNvPr id="6" name="Image 0" descr="icons_chartpi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0233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40690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Analysis Feeds Into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22960" y="461772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highest-share categories become the priority training classes for the AI recognition model, and the focus of the awareness campaign tested in Phase 9.</a:t>
            </a:r>
            <a:endParaRPr lang="en-US" sz="12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6035040" y="1783080"/>
          <a:ext cx="55778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3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3A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 · WEEKS 4–6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Comes After the Research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BD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modules that turn survey findings into a working school tool.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234A38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2221992"/>
            <a:ext cx="548640" cy="548640"/>
          </a:xfrm>
          <a:prstGeom prst="ellipse">
            <a:avLst/>
          </a:prstGeom>
          <a:solidFill>
            <a:srgbClr val="E3A548"/>
          </a:solidFill>
          <a:ln/>
        </p:spPr>
      </p:sp>
      <p:pic>
        <p:nvPicPr>
          <p:cNvPr id="7" name="Image 0" descr="icons_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350008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2880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&amp; Roles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04672" y="32461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D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access for teacher, student, and admin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297680" y="196596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234A38"/>
          </a:solidFill>
          <a:ln/>
        </p:spPr>
      </p:sp>
      <p:sp>
        <p:nvSpPr>
          <p:cNvPr id="11" name="Shape 8"/>
          <p:cNvSpPr/>
          <p:nvPr/>
        </p:nvSpPr>
        <p:spPr>
          <a:xfrm>
            <a:off x="4553712" y="2221992"/>
            <a:ext cx="548640" cy="548640"/>
          </a:xfrm>
          <a:prstGeom prst="ellipse">
            <a:avLst/>
          </a:prstGeom>
          <a:solidFill>
            <a:srgbClr val="E3A548"/>
          </a:solidFill>
          <a:ln/>
        </p:spPr>
      </p:sp>
      <p:pic>
        <p:nvPicPr>
          <p:cNvPr id="12" name="Image 1" descr="icons_chartpi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728" y="2350008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53712" y="2880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553712" y="32461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D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items, weight, houses surveyed, CO2 saved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046720" y="196596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234A38"/>
          </a:solidFill>
          <a:ln/>
        </p:spPr>
      </p:sp>
      <p:sp>
        <p:nvSpPr>
          <p:cNvPr id="16" name="Shape 12"/>
          <p:cNvSpPr/>
          <p:nvPr/>
        </p:nvSpPr>
        <p:spPr>
          <a:xfrm>
            <a:off x="8302752" y="2221992"/>
            <a:ext cx="548640" cy="548640"/>
          </a:xfrm>
          <a:prstGeom prst="ellipse">
            <a:avLst/>
          </a:prstGeom>
          <a:solidFill>
            <a:srgbClr val="E3A548"/>
          </a:solidFill>
          <a:ln/>
        </p:spPr>
      </p:sp>
      <p:pic>
        <p:nvPicPr>
          <p:cNvPr id="17" name="Image 2" descr="icons_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0768" y="2350008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02752" y="2880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302752" y="32461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D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search, filter e-waste with QR/barcode tags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48640" y="411480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234A38"/>
          </a:solidFill>
          <a:ln/>
        </p:spPr>
      </p:sp>
      <p:sp>
        <p:nvSpPr>
          <p:cNvPr id="21" name="Shape 16"/>
          <p:cNvSpPr/>
          <p:nvPr/>
        </p:nvSpPr>
        <p:spPr>
          <a:xfrm>
            <a:off x="804672" y="4370832"/>
            <a:ext cx="548640" cy="548640"/>
          </a:xfrm>
          <a:prstGeom prst="ellipse">
            <a:avLst/>
          </a:prstGeom>
          <a:solidFill>
            <a:srgbClr val="E3A548"/>
          </a:solidFill>
          <a:ln/>
        </p:spPr>
      </p:sp>
      <p:pic>
        <p:nvPicPr>
          <p:cNvPr id="22" name="Image 3" descr="icons_robo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4498848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04672" y="5029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Recognition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804672" y="53949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D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photo; get material &amp; danger level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297680" y="411480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234A38"/>
          </a:solidFill>
          <a:ln/>
        </p:spPr>
      </p:sp>
      <p:sp>
        <p:nvSpPr>
          <p:cNvPr id="26" name="Shape 20"/>
          <p:cNvSpPr/>
          <p:nvPr/>
        </p:nvSpPr>
        <p:spPr>
          <a:xfrm>
            <a:off x="4553712" y="4370832"/>
            <a:ext cx="548640" cy="548640"/>
          </a:xfrm>
          <a:prstGeom prst="ellipse">
            <a:avLst/>
          </a:prstGeom>
          <a:solidFill>
            <a:srgbClr val="E3A548"/>
          </a:solidFill>
          <a:ln/>
        </p:spPr>
      </p:sp>
      <p:pic>
        <p:nvPicPr>
          <p:cNvPr id="27" name="Image 4" descr="icons_fileal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1728" y="4498848"/>
            <a:ext cx="292608" cy="29260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553712" y="5029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4553712" y="53949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D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PDF monthly reports &amp; graphs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8046720" y="411480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234A38"/>
          </a:solidFill>
          <a:ln/>
        </p:spPr>
      </p:sp>
      <p:sp>
        <p:nvSpPr>
          <p:cNvPr id="31" name="Shape 24"/>
          <p:cNvSpPr/>
          <p:nvPr/>
        </p:nvSpPr>
        <p:spPr>
          <a:xfrm>
            <a:off x="8302752" y="4370832"/>
            <a:ext cx="548640" cy="548640"/>
          </a:xfrm>
          <a:prstGeom prst="ellipse">
            <a:avLst/>
          </a:prstGeom>
          <a:solidFill>
            <a:srgbClr val="E3A548"/>
          </a:solidFill>
          <a:ln/>
        </p:spPr>
      </p:sp>
      <p:pic>
        <p:nvPicPr>
          <p:cNvPr id="32" name="Image 5" descr="icons_lightbulb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0768" y="4498848"/>
            <a:ext cx="292608" cy="29260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302752" y="5029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 Hub</a:t>
            </a:r>
            <a:endParaRPr lang="en-US" sz="1400" dirty="0"/>
          </a:p>
        </p:txBody>
      </p:sp>
      <p:sp>
        <p:nvSpPr>
          <p:cNvPr id="34" name="Text 26"/>
          <p:cNvSpPr/>
          <p:nvPr/>
        </p:nvSpPr>
        <p:spPr>
          <a:xfrm>
            <a:off x="8302752" y="53949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D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Tips, videos, government rules, and a quiz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C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C9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7 · THE AI MODEL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AI E-Waste Recognition Flow Works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2514600" cy="2651760"/>
          </a:xfrm>
          <a:prstGeom prst="roundRect">
            <a:avLst>
              <a:gd name="adj" fmla="val 2909"/>
            </a:avLst>
          </a:prstGeom>
          <a:solidFill>
            <a:srgbClr val="F2F5F0"/>
          </a:solidFill>
          <a:ln/>
        </p:spPr>
      </p:sp>
      <p:sp>
        <p:nvSpPr>
          <p:cNvPr id="5" name="Shape 3"/>
          <p:cNvSpPr/>
          <p:nvPr/>
        </p:nvSpPr>
        <p:spPr>
          <a:xfrm>
            <a:off x="1485900" y="2651760"/>
            <a:ext cx="640080" cy="640080"/>
          </a:xfrm>
          <a:prstGeom prst="ellipse">
            <a:avLst/>
          </a:prstGeom>
          <a:solidFill>
            <a:srgbClr val="1B3A2B"/>
          </a:solidFill>
          <a:ln/>
        </p:spPr>
      </p:sp>
      <p:pic>
        <p:nvPicPr>
          <p:cNvPr id="6" name="Image 0" descr="icons_came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3060" y="27889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4747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Image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31520" y="393192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photographs an e-waste item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090672" y="3584448"/>
            <a:ext cx="274320" cy="237744"/>
          </a:xfrm>
          <a:prstGeom prst="rightArrow">
            <a:avLst/>
          </a:prstGeom>
          <a:solidFill>
            <a:srgbClr val="E3A548"/>
          </a:solidFill>
          <a:ln/>
        </p:spPr>
      </p:sp>
      <p:sp>
        <p:nvSpPr>
          <p:cNvPr id="10" name="Shape 7"/>
          <p:cNvSpPr/>
          <p:nvPr/>
        </p:nvSpPr>
        <p:spPr>
          <a:xfrm>
            <a:off x="3383280" y="2377440"/>
            <a:ext cx="2514600" cy="2651760"/>
          </a:xfrm>
          <a:prstGeom prst="roundRect">
            <a:avLst>
              <a:gd name="adj" fmla="val 2909"/>
            </a:avLst>
          </a:prstGeom>
          <a:solidFill>
            <a:srgbClr val="F2F5F0"/>
          </a:solidFill>
          <a:ln/>
        </p:spPr>
      </p:sp>
      <p:sp>
        <p:nvSpPr>
          <p:cNvPr id="11" name="Shape 8"/>
          <p:cNvSpPr/>
          <p:nvPr/>
        </p:nvSpPr>
        <p:spPr>
          <a:xfrm>
            <a:off x="4320540" y="2651760"/>
            <a:ext cx="640080" cy="640080"/>
          </a:xfrm>
          <a:prstGeom prst="ellipse">
            <a:avLst/>
          </a:prstGeom>
          <a:solidFill>
            <a:srgbClr val="1B3A2B"/>
          </a:solidFill>
          <a:ln/>
        </p:spPr>
      </p:sp>
      <p:pic>
        <p:nvPicPr>
          <p:cNvPr id="12" name="Image 1" descr="icons_rob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7700" y="278892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20440" y="34747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Detection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566160" y="393192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trained on 1,000+ images identifies it (YOLO / TensorFlow)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925312" y="3584448"/>
            <a:ext cx="274320" cy="237744"/>
          </a:xfrm>
          <a:prstGeom prst="rightArrow">
            <a:avLst/>
          </a:prstGeom>
          <a:solidFill>
            <a:srgbClr val="E3A548"/>
          </a:solidFill>
          <a:ln/>
        </p:spPr>
      </p:sp>
      <p:sp>
        <p:nvSpPr>
          <p:cNvPr id="16" name="Shape 12"/>
          <p:cNvSpPr/>
          <p:nvPr/>
        </p:nvSpPr>
        <p:spPr>
          <a:xfrm>
            <a:off x="6217920" y="2377440"/>
            <a:ext cx="2514600" cy="2651760"/>
          </a:xfrm>
          <a:prstGeom prst="roundRect">
            <a:avLst>
              <a:gd name="adj" fmla="val 2909"/>
            </a:avLst>
          </a:prstGeom>
          <a:solidFill>
            <a:srgbClr val="F2F5F0"/>
          </a:solidFill>
          <a:ln/>
        </p:spPr>
      </p:sp>
      <p:sp>
        <p:nvSpPr>
          <p:cNvPr id="17" name="Shape 13"/>
          <p:cNvSpPr/>
          <p:nvPr/>
        </p:nvSpPr>
        <p:spPr>
          <a:xfrm>
            <a:off x="7155180" y="2651760"/>
            <a:ext cx="640080" cy="640080"/>
          </a:xfrm>
          <a:prstGeom prst="ellipse">
            <a:avLst/>
          </a:prstGeom>
          <a:solidFill>
            <a:srgbClr val="1B3A2B"/>
          </a:solidFill>
          <a:ln/>
        </p:spPr>
      </p:sp>
      <p:pic>
        <p:nvPicPr>
          <p:cNvPr id="18" name="Image 2" descr="icons_chartpi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2340" y="278892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55080" y="34747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6400800" y="393192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type and category are assigned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8759952" y="3584448"/>
            <a:ext cx="274320" cy="237744"/>
          </a:xfrm>
          <a:prstGeom prst="rightArrow">
            <a:avLst/>
          </a:prstGeom>
          <a:solidFill>
            <a:srgbClr val="E3A548"/>
          </a:solidFill>
          <a:ln/>
        </p:spPr>
      </p:sp>
      <p:sp>
        <p:nvSpPr>
          <p:cNvPr id="22" name="Shape 17"/>
          <p:cNvSpPr/>
          <p:nvPr/>
        </p:nvSpPr>
        <p:spPr>
          <a:xfrm>
            <a:off x="9052560" y="2377440"/>
            <a:ext cx="2514600" cy="2651760"/>
          </a:xfrm>
          <a:prstGeom prst="roundRect">
            <a:avLst>
              <a:gd name="adj" fmla="val 2909"/>
            </a:avLst>
          </a:prstGeom>
          <a:solidFill>
            <a:srgbClr val="F2F5F0"/>
          </a:solidFill>
          <a:ln/>
        </p:spPr>
      </p:sp>
      <p:sp>
        <p:nvSpPr>
          <p:cNvPr id="23" name="Shape 18"/>
          <p:cNvSpPr/>
          <p:nvPr/>
        </p:nvSpPr>
        <p:spPr>
          <a:xfrm>
            <a:off x="9989820" y="2651760"/>
            <a:ext cx="640080" cy="640080"/>
          </a:xfrm>
          <a:prstGeom prst="ellipse">
            <a:avLst/>
          </a:prstGeom>
          <a:solidFill>
            <a:srgbClr val="1B3A2B"/>
          </a:solidFill>
          <a:ln/>
        </p:spPr>
      </p:sp>
      <p:pic>
        <p:nvPicPr>
          <p:cNvPr id="24" name="Image 3" descr="icons_checkcirc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6980" y="2788920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189720" y="34747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Output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9235440" y="393192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 level, recycle method, estimated value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C9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8 · OPTIONAL HARDWARE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Bin Prototype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optional physical layer that gives the AI model a real-world demo: a bin that recognizes and logs what's dropped into 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2084832" cy="2377440"/>
          </a:xfrm>
          <a:prstGeom prst="roundRect">
            <a:avLst>
              <a:gd name="adj" fmla="val 3509"/>
            </a:avLst>
          </a:prstGeom>
          <a:solidFill>
            <a:srgbClr val="F2F5F0"/>
          </a:solidFill>
          <a:ln/>
        </p:spPr>
      </p:sp>
      <p:sp>
        <p:nvSpPr>
          <p:cNvPr id="6" name="Shape 4"/>
          <p:cNvSpPr/>
          <p:nvPr/>
        </p:nvSpPr>
        <p:spPr>
          <a:xfrm>
            <a:off x="1298448" y="3017520"/>
            <a:ext cx="585216" cy="585216"/>
          </a:xfrm>
          <a:prstGeom prst="ellipse">
            <a:avLst/>
          </a:prstGeom>
          <a:solidFill>
            <a:srgbClr val="4C9A79"/>
          </a:solidFill>
          <a:ln/>
        </p:spPr>
      </p:sp>
      <p:pic>
        <p:nvPicPr>
          <p:cNvPr id="7" name="Image 0" descr="icons_microch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6464" y="3145536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794760"/>
            <a:ext cx="1901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/ ESP32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58368" y="4389120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controller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798064" y="2743200"/>
            <a:ext cx="2084832" cy="2377440"/>
          </a:xfrm>
          <a:prstGeom prst="roundRect">
            <a:avLst>
              <a:gd name="adj" fmla="val 3509"/>
            </a:avLst>
          </a:prstGeom>
          <a:solidFill>
            <a:srgbClr val="F2F5F0"/>
          </a:solidFill>
          <a:ln/>
        </p:spPr>
      </p:sp>
      <p:sp>
        <p:nvSpPr>
          <p:cNvPr id="11" name="Shape 8"/>
          <p:cNvSpPr/>
          <p:nvPr/>
        </p:nvSpPr>
        <p:spPr>
          <a:xfrm>
            <a:off x="3547872" y="3017520"/>
            <a:ext cx="585216" cy="585216"/>
          </a:xfrm>
          <a:prstGeom prst="ellipse">
            <a:avLst/>
          </a:prstGeom>
          <a:solidFill>
            <a:srgbClr val="4C9A79"/>
          </a:solidFill>
          <a:ln/>
        </p:spPr>
      </p:sp>
      <p:pic>
        <p:nvPicPr>
          <p:cNvPr id="12" name="Image 1" descr="icons_camer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5888" y="3145536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889504" y="3794760"/>
            <a:ext cx="1901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Module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2907792" y="4389120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item for AI recognition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047488" y="2743200"/>
            <a:ext cx="2084832" cy="2377440"/>
          </a:xfrm>
          <a:prstGeom prst="roundRect">
            <a:avLst>
              <a:gd name="adj" fmla="val 3509"/>
            </a:avLst>
          </a:prstGeom>
          <a:solidFill>
            <a:srgbClr val="F2F5F0"/>
          </a:solidFill>
          <a:ln/>
        </p:spPr>
      </p:sp>
      <p:sp>
        <p:nvSpPr>
          <p:cNvPr id="16" name="Shape 12"/>
          <p:cNvSpPr/>
          <p:nvPr/>
        </p:nvSpPr>
        <p:spPr>
          <a:xfrm>
            <a:off x="5797296" y="3017520"/>
            <a:ext cx="585216" cy="585216"/>
          </a:xfrm>
          <a:prstGeom prst="ellipse">
            <a:avLst/>
          </a:prstGeom>
          <a:solidFill>
            <a:srgbClr val="4C9A79"/>
          </a:solidFill>
          <a:ln/>
        </p:spPr>
      </p:sp>
      <p:pic>
        <p:nvPicPr>
          <p:cNvPr id="17" name="Image 2" descr="icons_chartli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5312" y="3145536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138928" y="3794760"/>
            <a:ext cx="1901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Sensor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5157216" y="4389120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weight automatically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7296912" y="2743200"/>
            <a:ext cx="2084832" cy="2377440"/>
          </a:xfrm>
          <a:prstGeom prst="roundRect">
            <a:avLst>
              <a:gd name="adj" fmla="val 3509"/>
            </a:avLst>
          </a:prstGeom>
          <a:solidFill>
            <a:srgbClr val="F2F5F0"/>
          </a:solidFill>
          <a:ln/>
        </p:spPr>
      </p:sp>
      <p:sp>
        <p:nvSpPr>
          <p:cNvPr id="21" name="Shape 16"/>
          <p:cNvSpPr/>
          <p:nvPr/>
        </p:nvSpPr>
        <p:spPr>
          <a:xfrm>
            <a:off x="8046720" y="3017520"/>
            <a:ext cx="585216" cy="585216"/>
          </a:xfrm>
          <a:prstGeom prst="ellipse">
            <a:avLst/>
          </a:prstGeom>
          <a:solidFill>
            <a:srgbClr val="4C9A79"/>
          </a:solidFill>
          <a:ln/>
        </p:spPr>
      </p:sp>
      <p:pic>
        <p:nvPicPr>
          <p:cNvPr id="22" name="Image 3" descr="icons_fileal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3145536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388352" y="3794760"/>
            <a:ext cx="1901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 Display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7406640" y="4389120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item info to the student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9546336" y="2743200"/>
            <a:ext cx="2084832" cy="2377440"/>
          </a:xfrm>
          <a:prstGeom prst="roundRect">
            <a:avLst>
              <a:gd name="adj" fmla="val 3509"/>
            </a:avLst>
          </a:prstGeom>
          <a:solidFill>
            <a:srgbClr val="F2F5F0"/>
          </a:solidFill>
          <a:ln/>
        </p:spPr>
      </p:sp>
      <p:sp>
        <p:nvSpPr>
          <p:cNvPr id="26" name="Shape 20"/>
          <p:cNvSpPr/>
          <p:nvPr/>
        </p:nvSpPr>
        <p:spPr>
          <a:xfrm>
            <a:off x="10296144" y="3017520"/>
            <a:ext cx="585216" cy="585216"/>
          </a:xfrm>
          <a:prstGeom prst="ellipse">
            <a:avLst/>
          </a:prstGeom>
          <a:solidFill>
            <a:srgbClr val="4C9A79"/>
          </a:solidFill>
          <a:ln/>
        </p:spPr>
      </p:sp>
      <p:pic>
        <p:nvPicPr>
          <p:cNvPr id="27" name="Image 4" descr="icons_qrcod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4160" y="3145536"/>
            <a:ext cx="329184" cy="32918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637776" y="3794760"/>
            <a:ext cx="1901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Scanner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9656064" y="4389120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item to its database record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548640" y="534924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E3A548"/>
          </a:solidFill>
          <a:ln/>
        </p:spPr>
      </p:sp>
      <p:sp>
        <p:nvSpPr>
          <p:cNvPr id="31" name="Text 24"/>
          <p:cNvSpPr/>
          <p:nvPr/>
        </p:nvSpPr>
        <p:spPr>
          <a:xfrm>
            <a:off x="822960" y="53492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— a working prototype strengthens the live demo but is not required to test the hypothesis.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C9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9 · THE EVIDENCE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Scientific Experiment That Proves the Hypothesis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212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school becomes the laboratory: measure e-waste collected before any intervention, run the awareness campaign and install EcoSense, then measure again. This before/after comparison — not the app alone — is the evidence NCSC judges look for.</a:t>
            </a:r>
            <a:endParaRPr lang="en-US" sz="1350" dirty="0"/>
          </a:p>
        </p:txBody>
      </p:sp>
      <p:pic>
        <p:nvPicPr>
          <p:cNvPr id="5" name="Image 0" descr="icons_clip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20624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417880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Baseline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051560" y="44805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e-waste collected before any intervention</a:t>
            </a:r>
            <a:endParaRPr lang="en-US" sz="1100" dirty="0"/>
          </a:p>
        </p:txBody>
      </p:sp>
      <p:pic>
        <p:nvPicPr>
          <p:cNvPr id="8" name="Image 1" descr="icons_lightbul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864608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51560" y="483717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Intervention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1051560" y="513892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awareness campaign + install EcoSense</a:t>
            </a:r>
            <a:endParaRPr lang="en-US" sz="1100" dirty="0"/>
          </a:p>
        </p:txBody>
      </p:sp>
      <p:pic>
        <p:nvPicPr>
          <p:cNvPr id="11" name="Image 2" descr="icons_chartli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522976"/>
            <a:ext cx="365760" cy="3657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51560" y="549554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Re-measure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1051560" y="579729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again after one month</a:t>
            </a:r>
            <a:endParaRPr lang="en-US" sz="11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6035040" y="1783080"/>
          <a:ext cx="55778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5" name="Text 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3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3A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on a Familiar, Reliable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234A38"/>
          </a:solidFill>
          <a:ln/>
        </p:spPr>
      </p:sp>
      <p:sp>
        <p:nvSpPr>
          <p:cNvPr id="5" name="Shape 3"/>
          <p:cNvSpPr/>
          <p:nvPr/>
        </p:nvSpPr>
        <p:spPr>
          <a:xfrm>
            <a:off x="1595628" y="2194560"/>
            <a:ext cx="512064" cy="512064"/>
          </a:xfrm>
          <a:prstGeom prst="ellipse">
            <a:avLst/>
          </a:prstGeom>
          <a:solidFill>
            <a:srgbClr val="E3A548"/>
          </a:solidFill>
          <a:ln/>
        </p:spPr>
      </p:sp>
      <p:pic>
        <p:nvPicPr>
          <p:cNvPr id="6" name="Image 0" descr="icons_laptop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4500" y="2313432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2834640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76656" y="3200400"/>
            <a:ext cx="2350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D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application logic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319272" y="196596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234A38"/>
          </a:solidFill>
          <a:ln/>
        </p:spPr>
      </p:sp>
      <p:sp>
        <p:nvSpPr>
          <p:cNvPr id="10" name="Shape 7"/>
          <p:cNvSpPr/>
          <p:nvPr/>
        </p:nvSpPr>
        <p:spPr>
          <a:xfrm>
            <a:off x="4366260" y="2194560"/>
            <a:ext cx="512064" cy="512064"/>
          </a:xfrm>
          <a:prstGeom prst="ellipse">
            <a:avLst/>
          </a:prstGeom>
          <a:solidFill>
            <a:srgbClr val="E3A548"/>
          </a:solidFill>
          <a:ln/>
        </p:spPr>
      </p:sp>
      <p:pic>
        <p:nvPicPr>
          <p:cNvPr id="11" name="Image 1" descr="icons_co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5132" y="2313432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29000" y="2834640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PySide6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447288" y="3200400"/>
            <a:ext cx="2350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D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desktop GUI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089904" y="196596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234A38"/>
          </a:solidFill>
          <a:ln/>
        </p:spPr>
      </p:sp>
      <p:sp>
        <p:nvSpPr>
          <p:cNvPr id="15" name="Shape 11"/>
          <p:cNvSpPr/>
          <p:nvPr/>
        </p:nvSpPr>
        <p:spPr>
          <a:xfrm>
            <a:off x="7136892" y="2194560"/>
            <a:ext cx="512064" cy="512064"/>
          </a:xfrm>
          <a:prstGeom prst="ellipse">
            <a:avLst/>
          </a:prstGeom>
          <a:solidFill>
            <a:srgbClr val="E3A548"/>
          </a:solidFill>
          <a:ln/>
        </p:spPr>
      </p:sp>
      <p:pic>
        <p:nvPicPr>
          <p:cNvPr id="16" name="Image 2" descr="icons_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5764" y="2313432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99632" y="2834640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217920" y="3200400"/>
            <a:ext cx="2350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D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e-waste database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8860536" y="196596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234A38"/>
          </a:solidFill>
          <a:ln/>
        </p:spPr>
      </p:sp>
      <p:sp>
        <p:nvSpPr>
          <p:cNvPr id="20" name="Shape 15"/>
          <p:cNvSpPr/>
          <p:nvPr/>
        </p:nvSpPr>
        <p:spPr>
          <a:xfrm>
            <a:off x="9907524" y="2194560"/>
            <a:ext cx="512064" cy="512064"/>
          </a:xfrm>
          <a:prstGeom prst="ellipse">
            <a:avLst/>
          </a:prstGeom>
          <a:solidFill>
            <a:srgbClr val="E3A548"/>
          </a:solidFill>
          <a:ln/>
        </p:spPr>
      </p:sp>
      <p:pic>
        <p:nvPicPr>
          <p:cNvPr id="21" name="Image 3" descr="icons_chartpi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6396" y="2313432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970264" y="2834640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8988552" y="3200400"/>
            <a:ext cx="2350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D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&amp; analysis charts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548640" y="402336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234A38"/>
          </a:solidFill>
          <a:ln/>
        </p:spPr>
      </p:sp>
      <p:sp>
        <p:nvSpPr>
          <p:cNvPr id="25" name="Shape 19"/>
          <p:cNvSpPr/>
          <p:nvPr/>
        </p:nvSpPr>
        <p:spPr>
          <a:xfrm>
            <a:off x="1595628" y="4251960"/>
            <a:ext cx="512064" cy="512064"/>
          </a:xfrm>
          <a:prstGeom prst="ellipse">
            <a:avLst/>
          </a:prstGeom>
          <a:solidFill>
            <a:srgbClr val="E3A548"/>
          </a:solidFill>
          <a:ln/>
        </p:spPr>
      </p:sp>
      <p:pic>
        <p:nvPicPr>
          <p:cNvPr id="26" name="Image 4" descr="icons_robo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4500" y="4370832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58368" y="4892040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/ TensorFlow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676656" y="5257800"/>
            <a:ext cx="2350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D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image recognition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3319272" y="402336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234A38"/>
          </a:solidFill>
          <a:ln/>
        </p:spPr>
      </p:sp>
      <p:sp>
        <p:nvSpPr>
          <p:cNvPr id="30" name="Shape 23"/>
          <p:cNvSpPr/>
          <p:nvPr/>
        </p:nvSpPr>
        <p:spPr>
          <a:xfrm>
            <a:off x="4366260" y="4251960"/>
            <a:ext cx="512064" cy="512064"/>
          </a:xfrm>
          <a:prstGeom prst="ellipse">
            <a:avLst/>
          </a:prstGeom>
          <a:solidFill>
            <a:srgbClr val="E3A548"/>
          </a:solidFill>
          <a:ln/>
        </p:spPr>
      </p:sp>
      <p:pic>
        <p:nvPicPr>
          <p:cNvPr id="31" name="Image 5" descr="icons_fileal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5132" y="4370832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429000" y="4892040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ReportLab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3447288" y="5257800"/>
            <a:ext cx="2350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D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report generation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6089904" y="402336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234A38"/>
          </a:solidFill>
          <a:ln/>
        </p:spPr>
      </p:sp>
      <p:sp>
        <p:nvSpPr>
          <p:cNvPr id="35" name="Shape 27"/>
          <p:cNvSpPr/>
          <p:nvPr/>
        </p:nvSpPr>
        <p:spPr>
          <a:xfrm>
            <a:off x="7136892" y="4251960"/>
            <a:ext cx="512064" cy="512064"/>
          </a:xfrm>
          <a:prstGeom prst="ellipse">
            <a:avLst/>
          </a:prstGeom>
          <a:solidFill>
            <a:srgbClr val="E3A548"/>
          </a:solidFill>
          <a:ln/>
        </p:spPr>
      </p:sp>
      <p:pic>
        <p:nvPicPr>
          <p:cNvPr id="36" name="Image 6" descr="icons_handshak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55764" y="4370832"/>
            <a:ext cx="274320" cy="27432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199632" y="4892040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250" dirty="0"/>
          </a:p>
        </p:txBody>
      </p:sp>
      <p:sp>
        <p:nvSpPr>
          <p:cNvPr id="38" name="Text 29"/>
          <p:cNvSpPr/>
          <p:nvPr/>
        </p:nvSpPr>
        <p:spPr>
          <a:xfrm>
            <a:off x="6217920" y="5257800"/>
            <a:ext cx="2350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D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&amp; collaboration</a:t>
            </a:r>
            <a:endParaRPr lang="en-US" sz="1000" dirty="0"/>
          </a:p>
        </p:txBody>
      </p:sp>
      <p:sp>
        <p:nvSpPr>
          <p:cNvPr id="39" name="Text 3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C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C9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PLAN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8-Week Timeline</a:t>
            </a:r>
            <a:endParaRPr lang="en-US" sz="3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4663440"/>
        </p:xfrm>
        <a:graphic>
          <a:graphicData uri="http://schemas.openxmlformats.org/drawingml/2006/table">
            <a:tbl>
              <a:tblPr/>
              <a:tblGrid>
                <a:gridCol w="1280160"/>
                <a:gridCol w="9784080"/>
              </a:tblGrid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2B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3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3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Finalize topic, objectives, and hypothesis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0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3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3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 e-waste and prepare the survey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3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3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Conduct surveys and collect data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0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3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3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Analyze results and build the database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3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3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 the desktop application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0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3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3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AI recognition module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3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3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in school; collect post-awareness data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0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3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3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Prepare report, presentation, and prototype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3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840480"/>
            <a:ext cx="5943600" cy="5943600"/>
          </a:xfrm>
          <a:prstGeom prst="ellipse">
            <a:avLst/>
          </a:prstGeom>
          <a:solidFill>
            <a:srgbClr val="234A3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3A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“We Built an App” to</a:t>
            </a:r>
            <a:endParaRPr lang="en-US" sz="3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“We Scientifically Demonstrated Impact”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283464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treating the school as a research laboratory — measuring before, intervening deliberately, and measuring again — EcoSense AI turns a software build into peer-reviewable evidence: exactly what NCSC judges are looking for.</a:t>
            </a:r>
            <a:endParaRPr lang="en-US" sz="1500" dirty="0"/>
          </a:p>
        </p:txBody>
      </p:sp>
      <p:pic>
        <p:nvPicPr>
          <p:cNvPr id="6" name="Image 0" descr="icons_leaf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663440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4617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Impact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097280" y="4919472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EC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e-waste in landfills, more material recovered</a:t>
            </a:r>
            <a:endParaRPr lang="en-US" sz="1050" dirty="0"/>
          </a:p>
        </p:txBody>
      </p:sp>
      <p:pic>
        <p:nvPicPr>
          <p:cNvPr id="9" name="Image 1" descr="icons_award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230368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7280" y="51846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Rigor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1097280" y="548640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EC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tested with real before/after data</a:t>
            </a:r>
            <a:endParaRPr lang="en-US" sz="1050" dirty="0"/>
          </a:p>
        </p:txBody>
      </p:sp>
      <p:pic>
        <p:nvPicPr>
          <p:cNvPr id="12" name="Image 2" descr="icons_robot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797296"/>
            <a:ext cx="384048" cy="38404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97280" y="575157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Tool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1097280" y="6053328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EC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system reusable by other schools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8321040" y="5029200"/>
            <a:ext cx="3291840" cy="1371600"/>
          </a:xfrm>
          <a:prstGeom prst="roundRect">
            <a:avLst>
              <a:gd name="adj" fmla="val 6667"/>
            </a:avLst>
          </a:prstGeom>
          <a:solidFill>
            <a:srgbClr val="E3A548"/>
          </a:solidFill>
          <a:ln/>
        </p:spPr>
      </p:sp>
      <p:sp>
        <p:nvSpPr>
          <p:cNvPr id="16" name="Text 11"/>
          <p:cNvSpPr/>
          <p:nvPr/>
        </p:nvSpPr>
        <p:spPr>
          <a:xfrm>
            <a:off x="8321040" y="502920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C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2026-07-25T17:17:07Z</dcterms:created>
  <dcterms:modified xsi:type="dcterms:W3CDTF">2026-07-25T17:17:07Z</dcterms:modified>
</cp:coreProperties>
</file>